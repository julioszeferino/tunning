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bf0e4e1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bf0e4e1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bf0e4e1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bf0e4e1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bf0e4e1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bf0e4e1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bf0e4e1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bf0e4e1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4bf0e4e1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4bf0e4e1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bf0e4e1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bf0e4e1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13750" y="255900"/>
            <a:ext cx="8716500" cy="4631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77675" y="3568125"/>
            <a:ext cx="503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dk2"/>
                </a:solidFill>
              </a:rPr>
              <a:t>Spark </a:t>
            </a:r>
            <a:r>
              <a:rPr b="1" lang="pt-BR" sz="3300">
                <a:solidFill>
                  <a:schemeClr val="dk2"/>
                </a:solidFill>
              </a:rPr>
              <a:t>Tuning</a:t>
            </a:r>
            <a:endParaRPr b="1" sz="3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Os maiores problemas de Jobs Spark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Spark Tuning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980375" y="1003875"/>
            <a:ext cx="4845300" cy="37470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3091075" y="3076175"/>
            <a:ext cx="26388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3652625" y="2180025"/>
            <a:ext cx="14907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3187025" y="3607000"/>
            <a:ext cx="242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</a:rPr>
              <a:t>File Storage</a:t>
            </a:r>
            <a:endParaRPr b="1" sz="17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1"/>
                </a:solidFill>
              </a:rPr>
              <a:t>Formato arquivo, small Files, Skew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249975" y="2327950"/>
            <a:ext cx="2421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</a:rPr>
              <a:t>Optimizations</a:t>
            </a:r>
            <a:endParaRPr b="1" sz="17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1"/>
                </a:solidFill>
              </a:rPr>
              <a:t>Boas </a:t>
            </a:r>
            <a:r>
              <a:rPr b="1" lang="pt-BR" sz="1000">
                <a:solidFill>
                  <a:schemeClr val="accent1"/>
                </a:solidFill>
              </a:rPr>
              <a:t>Práticas</a:t>
            </a:r>
            <a:r>
              <a:rPr b="1" lang="pt-BR" sz="1000">
                <a:solidFill>
                  <a:schemeClr val="accent1"/>
                </a:solidFill>
              </a:rPr>
              <a:t> de </a:t>
            </a:r>
            <a:r>
              <a:rPr b="1" lang="pt-BR" sz="1000">
                <a:solidFill>
                  <a:schemeClr val="accent1"/>
                </a:solidFill>
              </a:rPr>
              <a:t>Codificação,</a:t>
            </a:r>
            <a:endParaRPr b="1" sz="1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1"/>
                </a:solidFill>
              </a:rPr>
              <a:t>Joins Otimizados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652525" y="1208325"/>
            <a:ext cx="151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</a:rPr>
              <a:t>Fine </a:t>
            </a:r>
            <a:endParaRPr b="1" sz="17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</a:rPr>
              <a:t>Tuning</a:t>
            </a:r>
            <a:endParaRPr b="1" sz="17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1"/>
                </a:solidFill>
              </a:rPr>
              <a:t>Ajuste Fino</a:t>
            </a:r>
            <a:endParaRPr b="1" sz="1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1"/>
                </a:solidFill>
              </a:rPr>
              <a:t>de </a:t>
            </a:r>
            <a:r>
              <a:rPr b="1" lang="pt-BR" sz="1000">
                <a:solidFill>
                  <a:schemeClr val="accent1"/>
                </a:solidFill>
              </a:rPr>
              <a:t>Parâmetros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914900" y="1341400"/>
            <a:ext cx="7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1"/>
                </a:solidFill>
              </a:rPr>
              <a:t>20%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608925" y="2340900"/>
            <a:ext cx="6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1"/>
                </a:solidFill>
              </a:rPr>
              <a:t>30</a:t>
            </a:r>
            <a:r>
              <a:rPr b="1" lang="pt-BR" sz="1800">
                <a:solidFill>
                  <a:schemeClr val="accent1"/>
                </a:solidFill>
              </a:rPr>
              <a:t>%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437275" y="3631850"/>
            <a:ext cx="7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accent1"/>
                </a:solidFill>
              </a:rPr>
              <a:t>50</a:t>
            </a:r>
            <a:r>
              <a:rPr b="1" lang="pt-BR" sz="1800">
                <a:solidFill>
                  <a:schemeClr val="accent1"/>
                </a:solidFill>
              </a:rPr>
              <a:t>%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775" y="1285475"/>
            <a:ext cx="8090451" cy="922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5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Storage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22400" y="631150"/>
            <a:ext cx="785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Formato de Arquivo </a:t>
            </a:r>
            <a:r>
              <a:rPr lang="pt-BR" sz="1000">
                <a:solidFill>
                  <a:schemeClr val="dk2"/>
                </a:solidFill>
              </a:rPr>
              <a:t>não</a:t>
            </a:r>
            <a:r>
              <a:rPr lang="pt-BR" sz="1000">
                <a:solidFill>
                  <a:schemeClr val="dk2"/>
                </a:solidFill>
              </a:rPr>
              <a:t> otimizado para o </a:t>
            </a:r>
            <a:r>
              <a:rPr lang="pt-BR" sz="1000">
                <a:solidFill>
                  <a:schemeClr val="dk2"/>
                </a:solidFill>
              </a:rPr>
              <a:t>propósito</a:t>
            </a:r>
            <a:r>
              <a:rPr lang="pt-BR" sz="1000">
                <a:solidFill>
                  <a:schemeClr val="dk2"/>
                </a:solidFill>
              </a:rPr>
              <a:t>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110625" y="2310150"/>
            <a:ext cx="750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Iceberg (Formato Lakehouse)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Transações</a:t>
            </a:r>
            <a:r>
              <a:rPr lang="pt-BR" sz="1000">
                <a:solidFill>
                  <a:schemeClr val="dk2"/>
                </a:solidFill>
              </a:rPr>
              <a:t> ACID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Time Travel e </a:t>
            </a:r>
            <a:r>
              <a:rPr lang="pt-BR" sz="1000">
                <a:solidFill>
                  <a:schemeClr val="dk2"/>
                </a:solidFill>
              </a:rPr>
              <a:t>Histórico</a:t>
            </a:r>
            <a:r>
              <a:rPr lang="pt-BR" sz="1000">
                <a:solidFill>
                  <a:schemeClr val="dk2"/>
                </a:solidFill>
              </a:rPr>
              <a:t> (Permite Rollback, Auditoria e </a:t>
            </a:r>
            <a:r>
              <a:rPr lang="pt-BR" sz="1000">
                <a:solidFill>
                  <a:schemeClr val="dk2"/>
                </a:solidFill>
              </a:rPr>
              <a:t>Reprodução</a:t>
            </a:r>
            <a:r>
              <a:rPr lang="pt-BR" sz="1000">
                <a:solidFill>
                  <a:schemeClr val="dk2"/>
                </a:solidFill>
              </a:rPr>
              <a:t> de </a:t>
            </a:r>
            <a:r>
              <a:rPr lang="pt-BR" sz="1000">
                <a:solidFill>
                  <a:schemeClr val="dk2"/>
                </a:solidFill>
              </a:rPr>
              <a:t>Alterações</a:t>
            </a:r>
            <a:r>
              <a:rPr lang="pt-BR" sz="1000">
                <a:solidFill>
                  <a:schemeClr val="dk2"/>
                </a:solidFill>
              </a:rPr>
              <a:t>)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Open Source (Comunidade enorme)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Permite Streaming e Batch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Full Schema Evolution Native (Nao quebra quando </a:t>
            </a:r>
            <a:r>
              <a:rPr lang="pt-BR" sz="1000">
                <a:solidFill>
                  <a:schemeClr val="dk2"/>
                </a:solidFill>
              </a:rPr>
              <a:t>você</a:t>
            </a:r>
            <a:r>
              <a:rPr lang="pt-BR" sz="1000">
                <a:solidFill>
                  <a:schemeClr val="dk2"/>
                </a:solidFill>
              </a:rPr>
              <a:t> tem </a:t>
            </a:r>
            <a:r>
              <a:rPr lang="pt-BR" sz="1000">
                <a:solidFill>
                  <a:schemeClr val="dk2"/>
                </a:solidFill>
              </a:rPr>
              <a:t>adição</a:t>
            </a:r>
            <a:r>
              <a:rPr lang="pt-BR" sz="1000">
                <a:solidFill>
                  <a:schemeClr val="dk2"/>
                </a:solidFill>
              </a:rPr>
              <a:t>/</a:t>
            </a:r>
            <a:r>
              <a:rPr lang="pt-BR" sz="1000">
                <a:solidFill>
                  <a:schemeClr val="dk2"/>
                </a:solidFill>
              </a:rPr>
              <a:t>remoção</a:t>
            </a:r>
            <a:r>
              <a:rPr lang="pt-BR" sz="1000">
                <a:solidFill>
                  <a:schemeClr val="dk2"/>
                </a:solidFill>
              </a:rPr>
              <a:t> de colunas)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DML (Merge/Update e DELETE)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41925" y="907775"/>
            <a:ext cx="30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Formatos de </a:t>
            </a:r>
            <a:r>
              <a:rPr lang="pt-BR" sz="1000">
                <a:solidFill>
                  <a:schemeClr val="dk2"/>
                </a:solidFill>
              </a:rPr>
              <a:t>recepção</a:t>
            </a:r>
            <a:r>
              <a:rPr lang="pt-BR" sz="1000">
                <a:solidFill>
                  <a:schemeClr val="dk2"/>
                </a:solidFill>
              </a:rPr>
              <a:t> - Camada Raw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26775" y="3674275"/>
            <a:ext cx="785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Selecionar somente colunas que vai usar e usar filtros para reduzir a amostra (Column Pruning e Predicate Pushdown)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Particionamento</a:t>
            </a:r>
            <a:r>
              <a:rPr lang="pt-BR" sz="1000">
                <a:solidFill>
                  <a:schemeClr val="dk2"/>
                </a:solidFill>
              </a:rPr>
              <a:t> de Dados Eficiente (Foco em </a:t>
            </a:r>
            <a:r>
              <a:rPr lang="pt-BR" sz="1000">
                <a:solidFill>
                  <a:schemeClr val="dk2"/>
                </a:solidFill>
              </a:rPr>
              <a:t>múltiplos</a:t>
            </a:r>
            <a:r>
              <a:rPr lang="pt-BR" sz="1000">
                <a:solidFill>
                  <a:schemeClr val="dk2"/>
                </a:solidFill>
              </a:rPr>
              <a:t> de 32mb, 64mb,128mb…)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Usar o </a:t>
            </a:r>
            <a:r>
              <a:rPr lang="pt-BR" sz="1000">
                <a:solidFill>
                  <a:schemeClr val="dk2"/>
                </a:solidFill>
              </a:rPr>
              <a:t>parâmetro</a:t>
            </a:r>
            <a:r>
              <a:rPr lang="pt-BR" sz="1000">
                <a:solidFill>
                  <a:schemeClr val="dk2"/>
                </a:solidFill>
              </a:rPr>
              <a:t> `spark.sql.files.maxPartitionBytes` para Big Files e `repartition` logo no </a:t>
            </a:r>
            <a:r>
              <a:rPr lang="pt-BR" sz="1000">
                <a:solidFill>
                  <a:schemeClr val="dk2"/>
                </a:solidFill>
              </a:rPr>
              <a:t>início</a:t>
            </a:r>
            <a:r>
              <a:rPr lang="pt-BR" sz="1000">
                <a:solidFill>
                  <a:schemeClr val="dk2"/>
                </a:solidFill>
              </a:rPr>
              <a:t> para Small Files.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16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Shuffle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22400" y="631150"/>
            <a:ext cx="7857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Sempre ocorre quando temos uma </a:t>
            </a:r>
            <a:r>
              <a:rPr b="1" lang="pt-BR" sz="1000">
                <a:solidFill>
                  <a:schemeClr val="dk2"/>
                </a:solidFill>
              </a:rPr>
              <a:t>Wide Transformation</a:t>
            </a:r>
            <a:r>
              <a:rPr lang="pt-BR" sz="1000">
                <a:solidFill>
                  <a:schemeClr val="dk2"/>
                </a:solidFill>
              </a:rPr>
              <a:t> (Troca de dados entre os workers). Por exemplo, `groupBy`, `orderBy`, `repartition` e etc.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Ações</a:t>
            </a:r>
            <a:r>
              <a:rPr lang="pt-BR" sz="1000">
                <a:solidFill>
                  <a:schemeClr val="dk2"/>
                </a:solidFill>
              </a:rPr>
              <a:t> </a:t>
            </a:r>
            <a:r>
              <a:rPr lang="pt-BR" sz="1000">
                <a:solidFill>
                  <a:schemeClr val="dk2"/>
                </a:solidFill>
              </a:rPr>
              <a:t>Úteis</a:t>
            </a:r>
            <a:r>
              <a:rPr lang="pt-BR" sz="1000">
                <a:solidFill>
                  <a:schemeClr val="dk2"/>
                </a:solidFill>
              </a:rPr>
              <a:t>: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Usar </a:t>
            </a:r>
            <a:r>
              <a:rPr lang="pt-BR" sz="1000">
                <a:solidFill>
                  <a:schemeClr val="dk2"/>
                </a:solidFill>
              </a:rPr>
              <a:t>Variáveis</a:t>
            </a:r>
            <a:r>
              <a:rPr lang="pt-BR" sz="1000">
                <a:solidFill>
                  <a:schemeClr val="dk2"/>
                </a:solidFill>
              </a:rPr>
              <a:t> de Broadcast quando se tem um join entre um dataset grande e um dataset pequeno `df = broadcast(df)`.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Repartition/coalesce para quando se tem problemas na origem: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</a:pPr>
            <a:r>
              <a:rPr lang="pt-BR" sz="1000">
                <a:solidFill>
                  <a:schemeClr val="dk2"/>
                </a:solidFill>
              </a:rPr>
              <a:t>Regra </a:t>
            </a:r>
            <a:r>
              <a:rPr lang="pt-BR" sz="1000">
                <a:solidFill>
                  <a:schemeClr val="dk2"/>
                </a:solidFill>
              </a:rPr>
              <a:t>Básica:</a:t>
            </a:r>
            <a:endParaRPr sz="1000">
              <a:solidFill>
                <a:schemeClr val="dk2"/>
              </a:solidFill>
            </a:endParaRPr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3x a 4x a quantidade de cores total do cluster.</a:t>
            </a:r>
            <a:endParaRPr sz="1000">
              <a:solidFill>
                <a:schemeClr val="dk2"/>
              </a:solidFill>
            </a:endParaRPr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Por exemplo: Cluster com 8 cores = 32 partições.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Aumentar a </a:t>
            </a:r>
            <a:r>
              <a:rPr lang="pt-BR" sz="1000">
                <a:solidFill>
                  <a:schemeClr val="dk2"/>
                </a:solidFill>
              </a:rPr>
              <a:t>memória</a:t>
            </a:r>
            <a:r>
              <a:rPr lang="pt-BR" sz="1000">
                <a:solidFill>
                  <a:schemeClr val="dk2"/>
                </a:solidFill>
              </a:rPr>
              <a:t> e reduzir a quantidade de cores pode ajudar.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Reduzir a quantidade de </a:t>
            </a:r>
            <a:r>
              <a:rPr lang="pt-BR" sz="1000">
                <a:solidFill>
                  <a:schemeClr val="dk2"/>
                </a:solidFill>
              </a:rPr>
              <a:t>operações</a:t>
            </a:r>
            <a:r>
              <a:rPr lang="pt-BR" sz="1000">
                <a:solidFill>
                  <a:schemeClr val="dk2"/>
                </a:solidFill>
              </a:rPr>
              <a:t> wide </a:t>
            </a:r>
            <a:r>
              <a:rPr lang="pt-BR" sz="1000">
                <a:solidFill>
                  <a:schemeClr val="dk2"/>
                </a:solidFill>
              </a:rPr>
              <a:t>desnecessárias</a:t>
            </a:r>
            <a:r>
              <a:rPr lang="pt-BR" sz="1000">
                <a:solidFill>
                  <a:schemeClr val="dk2"/>
                </a:solidFill>
              </a:rPr>
              <a:t> (Em especial o `orderBy`)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Realizar cache de </a:t>
            </a:r>
            <a:r>
              <a:rPr lang="pt-BR" sz="1000">
                <a:solidFill>
                  <a:schemeClr val="dk2"/>
                </a:solidFill>
              </a:rPr>
              <a:t>operações</a:t>
            </a:r>
            <a:r>
              <a:rPr lang="pt-BR" sz="1000">
                <a:solidFill>
                  <a:schemeClr val="dk2"/>
                </a:solidFill>
              </a:rPr>
              <a:t> custosas com `persist()` e `cache`.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35600"/>
            <a:ext cx="8839204" cy="156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7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Skew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22400" y="869700"/>
            <a:ext cx="4199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pt-BR" sz="1200">
                <a:solidFill>
                  <a:schemeClr val="dk2"/>
                </a:solidFill>
              </a:rPr>
              <a:t>Ocorre quando o dataset </a:t>
            </a:r>
            <a:r>
              <a:rPr lang="pt-BR" sz="1200">
                <a:solidFill>
                  <a:schemeClr val="dk2"/>
                </a:solidFill>
              </a:rPr>
              <a:t>está</a:t>
            </a:r>
            <a:r>
              <a:rPr lang="pt-BR" sz="1200">
                <a:solidFill>
                  <a:schemeClr val="dk2"/>
                </a:solidFill>
              </a:rPr>
              <a:t> desbalanceado na origem.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pt-BR" sz="1200">
                <a:solidFill>
                  <a:schemeClr val="dk2"/>
                </a:solidFill>
              </a:rPr>
              <a:t>Estratégias</a:t>
            </a:r>
            <a:r>
              <a:rPr lang="pt-BR" sz="1200">
                <a:solidFill>
                  <a:schemeClr val="dk2"/>
                </a:solidFill>
              </a:rPr>
              <a:t> de </a:t>
            </a:r>
            <a:r>
              <a:rPr lang="pt-BR" sz="1200">
                <a:solidFill>
                  <a:schemeClr val="dk2"/>
                </a:solidFill>
              </a:rPr>
              <a:t>Mitigação</a:t>
            </a:r>
            <a:r>
              <a:rPr lang="pt-BR" sz="1200">
                <a:solidFill>
                  <a:schemeClr val="dk2"/>
                </a:solidFill>
              </a:rPr>
              <a:t>: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O ideal é resolver na origem (a depender do caso nao particionar)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Isolar o dado com skew e trabalhar ele separadamente.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Broadcast Hash Join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Usar Salting Keys ou `repartition` com uma custom key que nao seja desbalanceada.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Adaptive Querie Execution Ligado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750" y="799250"/>
            <a:ext cx="4246525" cy="386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8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8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Spill e Serialization</a:t>
            </a:r>
            <a:endParaRPr b="1" sz="1700">
              <a:solidFill>
                <a:schemeClr val="dk2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425" y="939288"/>
            <a:ext cx="4538226" cy="37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323025" y="1436225"/>
            <a:ext cx="4199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pt-BR" sz="1200">
                <a:solidFill>
                  <a:schemeClr val="dk2"/>
                </a:solidFill>
              </a:rPr>
              <a:t>Ocorre quando uma transformação estoura a memória do spark e ele precisa escrever esses dados temporariamente em disco. Para fazer isso ele realizar uma operação de serialização e deserialização para compactar e descompactar esses dados.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pt-BR" sz="1200">
                <a:solidFill>
                  <a:schemeClr val="dk2"/>
                </a:solidFill>
              </a:rPr>
              <a:t>Estratégias de Mitigação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Aumentar a quantidade de workers (pode gerar shuffle).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Resolver problemas de Skew.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pt-BR" sz="1200">
                <a:solidFill>
                  <a:schemeClr val="dk2"/>
                </a:solidFill>
              </a:rPr>
              <a:t>Gerenciar o partition size `</a:t>
            </a:r>
            <a:r>
              <a:rPr lang="pt-BR" sz="1000">
                <a:solidFill>
                  <a:schemeClr val="dk2"/>
                </a:solidFill>
              </a:rPr>
              <a:t>spark.sql.files.maxPartitionBytes`.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Evitar operações como explode(), crossjoin().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pt-BR" sz="1000">
                <a:solidFill>
                  <a:schemeClr val="dk2"/>
                </a:solidFill>
              </a:rPr>
              <a:t>Evitar Python UDFs, de </a:t>
            </a:r>
            <a:r>
              <a:rPr lang="pt-BR" sz="1000">
                <a:solidFill>
                  <a:schemeClr val="dk2"/>
                </a:solidFill>
              </a:rPr>
              <a:t>preferência</a:t>
            </a:r>
            <a:r>
              <a:rPr lang="pt-BR" sz="1000">
                <a:solidFill>
                  <a:schemeClr val="dk2"/>
                </a:solidFill>
              </a:rPr>
              <a:t> para uma pandas UDF (que usa conceitos do pyarrow) ou </a:t>
            </a:r>
            <a:r>
              <a:rPr lang="pt-BR" sz="1000">
                <a:solidFill>
                  <a:schemeClr val="dk2"/>
                </a:solidFill>
              </a:rPr>
              <a:t>funções</a:t>
            </a:r>
            <a:r>
              <a:rPr lang="pt-BR" sz="1000">
                <a:solidFill>
                  <a:schemeClr val="dk2"/>
                </a:solidFill>
              </a:rPr>
              <a:t> nativas do spark (sempre o ideal).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9"/>
          <p:cNvCxnSpPr/>
          <p:nvPr/>
        </p:nvCxnSpPr>
        <p:spPr>
          <a:xfrm flipH="1" rot="10800000">
            <a:off x="422400" y="506775"/>
            <a:ext cx="8299200" cy="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9"/>
          <p:cNvSpPr txBox="1"/>
          <p:nvPr/>
        </p:nvSpPr>
        <p:spPr>
          <a:xfrm>
            <a:off x="422400" y="60375"/>
            <a:ext cx="449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Melhores </a:t>
            </a:r>
            <a:r>
              <a:rPr b="1" lang="pt-BR" sz="1700">
                <a:solidFill>
                  <a:schemeClr val="dk2"/>
                </a:solidFill>
              </a:rPr>
              <a:t>Práticas - A “colinha”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91975" y="775250"/>
            <a:ext cx="8179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BR">
                <a:solidFill>
                  <a:schemeClr val="dk2"/>
                </a:solidFill>
              </a:rPr>
              <a:t>Extração</a:t>
            </a:r>
            <a:r>
              <a:rPr lang="pt-BR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Evitar formatos </a:t>
            </a:r>
            <a:r>
              <a:rPr lang="pt-BR">
                <a:solidFill>
                  <a:schemeClr val="dk2"/>
                </a:solidFill>
              </a:rPr>
              <a:t>não</a:t>
            </a:r>
            <a:r>
              <a:rPr lang="pt-BR">
                <a:solidFill>
                  <a:schemeClr val="dk2"/>
                </a:solidFill>
              </a:rPr>
              <a:t> otimizados para Big Data como JSON e TXT.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Resolver problemas de Data Skew na origem (</a:t>
            </a:r>
            <a:r>
              <a:rPr lang="pt-BR">
                <a:solidFill>
                  <a:schemeClr val="dk2"/>
                </a:solidFill>
              </a:rPr>
              <a:t>partições</a:t>
            </a:r>
            <a:r>
              <a:rPr lang="pt-BR">
                <a:solidFill>
                  <a:schemeClr val="dk2"/>
                </a:solidFill>
              </a:rPr>
              <a:t> desbalanceadas) otimizando o particionamento.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Prune Columns e Predicate Pushdown.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Broadcast Joins para datasets muito pequenos.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BR">
                <a:solidFill>
                  <a:schemeClr val="dk2"/>
                </a:solidFill>
              </a:rPr>
              <a:t>Transformação</a:t>
            </a:r>
            <a:r>
              <a:rPr lang="pt-BR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Usar `cache` em dataframes </a:t>
            </a:r>
            <a:r>
              <a:rPr lang="pt-BR">
                <a:solidFill>
                  <a:schemeClr val="dk2"/>
                </a:solidFill>
              </a:rPr>
              <a:t>intermediários</a:t>
            </a:r>
            <a:r>
              <a:rPr lang="pt-BR">
                <a:solidFill>
                  <a:schemeClr val="dk2"/>
                </a:solidFill>
              </a:rPr>
              <a:t> (Lembrar de fazer `unpersist()`!).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Evitar wide transformations usando lambda e RDD.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Otimizar joins com `broadcast()` nos dataframes alvo.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pt-BR">
                <a:solidFill>
                  <a:schemeClr val="dk2"/>
                </a:solidFill>
              </a:rPr>
              <a:t>Escrita: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Otimizar a escrita usando Repartition ou Coalesce.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Particionamento (Se estiver no databricks, apenas acima de 1B linhas e usando liquid clustering, para os demais casos, </a:t>
            </a:r>
            <a:r>
              <a:rPr lang="pt-BR">
                <a:solidFill>
                  <a:schemeClr val="dk2"/>
                </a:solidFill>
              </a:rPr>
              <a:t>só</a:t>
            </a:r>
            <a:r>
              <a:rPr lang="pt-BR">
                <a:solidFill>
                  <a:schemeClr val="dk2"/>
                </a:solidFill>
              </a:rPr>
              <a:t> particionar quando o uso do `repartition/coalesce` </a:t>
            </a:r>
            <a:r>
              <a:rPr lang="pt-BR">
                <a:solidFill>
                  <a:schemeClr val="dk2"/>
                </a:solidFill>
              </a:rPr>
              <a:t>não</a:t>
            </a:r>
            <a:r>
              <a:rPr lang="pt-BR">
                <a:solidFill>
                  <a:schemeClr val="dk2"/>
                </a:solidFill>
              </a:rPr>
              <a:t> for suficiente para otimizar a leitura)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Usar formatos eficientes (Delta e Iceberg)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